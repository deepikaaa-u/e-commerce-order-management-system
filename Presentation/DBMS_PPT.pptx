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301" r:id="rId14"/>
    <p:sldId id="296" r:id="rId15"/>
    <p:sldId id="297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2EF386-F36B-4359-989D-F85B26F835D8}" v="1" dt="2026-10-03T09:12:22.2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80" d="100"/>
          <a:sy n="80" d="100"/>
        </p:scale>
        <p:origin x="158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ukuru Deepika" userId="87ed33a3b411eab1" providerId="LiveId" clId="{19A6CF64-CCED-42C7-ABBD-6421F8958020}"/>
    <pc:docChg chg="modSld">
      <pc:chgData name="Unukuru Deepika" userId="87ed33a3b411eab1" providerId="LiveId" clId="{19A6CF64-CCED-42C7-ABBD-6421F8958020}" dt="2026-10-03T09:13:30.868" v="131" actId="2711"/>
      <pc:docMkLst>
        <pc:docMk/>
      </pc:docMkLst>
      <pc:sldChg chg="modSp mod">
        <pc:chgData name="Unukuru Deepika" userId="87ed33a3b411eab1" providerId="LiveId" clId="{19A6CF64-CCED-42C7-ABBD-6421F8958020}" dt="2026-10-03T09:04:23.789" v="41" actId="20577"/>
        <pc:sldMkLst>
          <pc:docMk/>
          <pc:sldMk cId="0" sldId="256"/>
        </pc:sldMkLst>
        <pc:spChg chg="mod">
          <ac:chgData name="Unukuru Deepika" userId="87ed33a3b411eab1" providerId="LiveId" clId="{19A6CF64-CCED-42C7-ABBD-6421F8958020}" dt="2026-10-03T09:04:23.789" v="4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Unukuru Deepika" userId="87ed33a3b411eab1" providerId="LiveId" clId="{19A6CF64-CCED-42C7-ABBD-6421F8958020}" dt="2026-10-03T09:04:14.619" v="25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Unukuru Deepika" userId="87ed33a3b411eab1" providerId="LiveId" clId="{19A6CF64-CCED-42C7-ABBD-6421F8958020}" dt="2026-10-03T09:03:16.982" v="1" actId="20577"/>
        <pc:sldMkLst>
          <pc:docMk/>
          <pc:sldMk cId="26077263" sldId="292"/>
        </pc:sldMkLst>
        <pc:spChg chg="mod">
          <ac:chgData name="Unukuru Deepika" userId="87ed33a3b411eab1" providerId="LiveId" clId="{19A6CF64-CCED-42C7-ABBD-6421F8958020}" dt="2026-10-03T09:03:16.982" v="1" actId="20577"/>
          <ac:spMkLst>
            <pc:docMk/>
            <pc:sldMk cId="26077263" sldId="292"/>
            <ac:spMk id="9" creationId="{7A800D15-2389-5516-DA9E-AC441973A9C8}"/>
          </ac:spMkLst>
        </pc:spChg>
      </pc:sldChg>
      <pc:sldChg chg="modSp mod">
        <pc:chgData name="Unukuru Deepika" userId="87ed33a3b411eab1" providerId="LiveId" clId="{19A6CF64-CCED-42C7-ABBD-6421F8958020}" dt="2026-10-03T09:13:30.868" v="131" actId="2711"/>
        <pc:sldMkLst>
          <pc:docMk/>
          <pc:sldMk cId="26077263" sldId="300"/>
        </pc:sldMkLst>
        <pc:graphicFrameChg chg="mod modGraphic">
          <ac:chgData name="Unukuru Deepika" userId="87ed33a3b411eab1" providerId="LiveId" clId="{19A6CF64-CCED-42C7-ABBD-6421F8958020}" dt="2026-10-03T09:13:30.868" v="131" actId="2711"/>
          <ac:graphicFrameMkLst>
            <pc:docMk/>
            <pc:sldMk cId="26077263" sldId="300"/>
            <ac:graphicFrameMk id="8" creationId="{EA3AC747-3195-4E71-81E8-AACABC8D834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392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337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6202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E-Commerce Order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 Deepika(25B11AIC25)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Supriya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(25B11AI</a:t>
            </a:r>
            <a:r>
              <a:rPr lang="it-IT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985 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Harshitha(25B11AI990)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A.Hemanth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(26B21AI166)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32098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DDL, DML &amp; DQL operations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CRUD operations &amp; SQL queries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Data integrity &amp; validation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Demonstrate &amp; present database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648200" y="332823"/>
            <a:ext cx="1760048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290750" y="1066800"/>
            <a:ext cx="94628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E-Commerce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 System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Managing customers, products, orders, addresses, and payments manually can lead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duplication, inconsistency, and difficulty in retrieving information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structured relational database to efficiently manage e-commerce order-related information.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customer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product and category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customer addresses.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record and track orders and order items.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payment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relationships between different entities.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data integrity using database constraints.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SQL operations for retrieving and managing data.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429000" y="344260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609600" y="934336"/>
            <a:ext cx="914400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email,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phone_numbers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registration_date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total_orders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address_id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street, city, state,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pincode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address_type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parent_category_id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description, price,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stock_quantity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tags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address_id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order_status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Order_Item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unit_price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subtotal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payment_date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amount, method, status,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2" name="Picture 11" descr="This diagram illustrates a hierarchical structure of a customer's order information, detailing relationships among customers, addresses, categories, products, order items, and payments.&#10;&#10;AI-generated content may be incorrect.">
            <a:extLst>
              <a:ext uri="{FF2B5EF4-FFF2-40B4-BE49-F238E27FC236}">
                <a16:creationId xmlns:a16="http://schemas.microsoft.com/office/drawing/2014/main" id="{390A436F-E664-BAF3-F5EE-5B667033AC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1239"/>
            <a:ext cx="100584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pic>
        <p:nvPicPr>
          <p:cNvPr id="14" name="Picture 13" descr="This image illustrates a diagram of a relational database schema for an e-commerce order management system, showing various interconnected entities like Customer, Address, Category, Product, Order, Order_Item, and Payment, with primary and foreign keys, unique constraints, and derived attributes.&#10;&#10;AI-generated content may be incorrect.">
            <a:extLst>
              <a:ext uri="{FF2B5EF4-FFF2-40B4-BE49-F238E27FC236}">
                <a16:creationId xmlns:a16="http://schemas.microsoft.com/office/drawing/2014/main" id="{EE76D79E-80F0-45C8-2900-E269B564C4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1084"/>
            <a:ext cx="10058400" cy="648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77F997-F85C-38B7-05A6-9F2D884D7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133738"/>
              </p:ext>
            </p:extLst>
          </p:nvPr>
        </p:nvGraphicFramePr>
        <p:xfrm>
          <a:off x="1282756" y="1197528"/>
          <a:ext cx="7492887" cy="594359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49237">
                  <a:extLst>
                    <a:ext uri="{9D8B030D-6E8A-4147-A177-3AD203B41FA5}">
                      <a16:colId xmlns:a16="http://schemas.microsoft.com/office/drawing/2014/main" val="18704479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10597439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1878951998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1858190781"/>
                    </a:ext>
                  </a:extLst>
                </a:gridCol>
              </a:tblGrid>
              <a:tr h="59665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Table Name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Primary Key (PK)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Foreign Keys (FK)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References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001885"/>
                  </a:ext>
                </a:extLst>
              </a:tr>
              <a:tr h="54696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CUSTOMER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customer_id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None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N/A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extLst>
                  <a:ext uri="{0D108BD9-81ED-4DB2-BD59-A6C34878D82A}">
                    <a16:rowId xmlns:a16="http://schemas.microsoft.com/office/drawing/2014/main" val="330563140"/>
                  </a:ext>
                </a:extLst>
              </a:tr>
              <a:tr h="54696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CATEGORY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category_id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None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N/A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extLst>
                  <a:ext uri="{0D108BD9-81ED-4DB2-BD59-A6C34878D82A}">
                    <a16:rowId xmlns:a16="http://schemas.microsoft.com/office/drawing/2014/main" val="1109723319"/>
                  </a:ext>
                </a:extLst>
              </a:tr>
              <a:tr h="926511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PRODUCT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product_id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category_id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CATEGORY(</a:t>
                      </a:r>
                      <a:r>
                        <a:rPr lang="en-IN" sz="1400" dirty="0" err="1">
                          <a:effectLst/>
                        </a:rPr>
                        <a:t>category_id</a:t>
                      </a:r>
                      <a:r>
                        <a:rPr lang="en-IN" sz="1400" dirty="0">
                          <a:effectLst/>
                        </a:rPr>
                        <a:t>)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extLst>
                  <a:ext uri="{0D108BD9-81ED-4DB2-BD59-A6C34878D82A}">
                    <a16:rowId xmlns:a16="http://schemas.microsoft.com/office/drawing/2014/main" val="1566692648"/>
                  </a:ext>
                </a:extLst>
              </a:tr>
              <a:tr h="926511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ORDER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order_id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 err="1">
                          <a:effectLst/>
                        </a:rPr>
                        <a:t>customer_id,address_id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CUSTOMER(</a:t>
                      </a:r>
                      <a:r>
                        <a:rPr lang="en-IN" sz="1400" dirty="0" err="1">
                          <a:effectLst/>
                        </a:rPr>
                        <a:t>customer_id</a:t>
                      </a:r>
                      <a:r>
                        <a:rPr lang="en-IN" sz="1400" dirty="0">
                          <a:effectLst/>
                        </a:rPr>
                        <a:t>)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extLst>
                  <a:ext uri="{0D108BD9-81ED-4DB2-BD59-A6C34878D82A}">
                    <a16:rowId xmlns:a16="http://schemas.microsoft.com/office/drawing/2014/main" val="2611323808"/>
                  </a:ext>
                </a:extLst>
              </a:tr>
              <a:tr h="130605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ORDER_ITEM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order_item_id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 err="1">
                          <a:effectLst/>
                        </a:rPr>
                        <a:t>order_id</a:t>
                      </a:r>
                      <a:r>
                        <a:rPr lang="en-IN" sz="1400" dirty="0">
                          <a:effectLst/>
                        </a:rPr>
                        <a:t>, </a:t>
                      </a:r>
                      <a:r>
                        <a:rPr lang="en-IN" sz="1400" dirty="0" err="1">
                          <a:effectLst/>
                        </a:rPr>
                        <a:t>product_id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ORDER(</a:t>
                      </a:r>
                      <a:r>
                        <a:rPr lang="en-IN" sz="1400" dirty="0" err="1">
                          <a:effectLst/>
                        </a:rPr>
                        <a:t>order_id</a:t>
                      </a:r>
                      <a:r>
                        <a:rPr lang="en-IN" sz="1400" dirty="0">
                          <a:effectLst/>
                        </a:rPr>
                        <a:t>), PRODUCT(</a:t>
                      </a:r>
                      <a:r>
                        <a:rPr lang="en-IN" sz="1400" dirty="0" err="1">
                          <a:effectLst/>
                        </a:rPr>
                        <a:t>product_id</a:t>
                      </a:r>
                      <a:r>
                        <a:rPr lang="en-IN" sz="1400" dirty="0">
                          <a:effectLst/>
                        </a:rPr>
                        <a:t>)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extLst>
                  <a:ext uri="{0D108BD9-81ED-4DB2-BD59-A6C34878D82A}">
                    <a16:rowId xmlns:a16="http://schemas.microsoft.com/office/drawing/2014/main" val="2828605125"/>
                  </a:ext>
                </a:extLst>
              </a:tr>
              <a:tr h="54696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PAYMENT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payment_id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>
                          <a:effectLst/>
                        </a:rPr>
                        <a:t>order_id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ORDER(</a:t>
                      </a:r>
                      <a:r>
                        <a:rPr lang="en-IN" sz="1400" dirty="0" err="1">
                          <a:effectLst/>
                        </a:rPr>
                        <a:t>order_id</a:t>
                      </a:r>
                      <a:r>
                        <a:rPr lang="en-IN" sz="1400" dirty="0">
                          <a:effectLst/>
                        </a:rPr>
                        <a:t>)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extLst>
                  <a:ext uri="{0D108BD9-81ED-4DB2-BD59-A6C34878D82A}">
                    <a16:rowId xmlns:a16="http://schemas.microsoft.com/office/drawing/2014/main" val="3585852514"/>
                  </a:ext>
                </a:extLst>
              </a:tr>
              <a:tr h="54696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Google Sans Text"/>
                        </a:rPr>
                        <a:t>Address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 err="1">
                          <a:effectLst/>
                          <a:latin typeface="Google Sans Text"/>
                        </a:rPr>
                        <a:t>Address_id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 err="1">
                          <a:effectLst/>
                          <a:latin typeface="Google Sans Text"/>
                        </a:rPr>
                        <a:t>Customer_id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400" dirty="0">
                          <a:effectLst/>
                        </a:rPr>
                        <a:t>ORDER(</a:t>
                      </a:r>
                      <a:r>
                        <a:rPr lang="en-IN" sz="1400" dirty="0" err="1">
                          <a:effectLst/>
                        </a:rPr>
                        <a:t>order_id</a:t>
                      </a:r>
                      <a:r>
                        <a:rPr lang="en-IN" sz="1400" dirty="0">
                          <a:effectLst/>
                        </a:rPr>
                        <a:t>)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70587" marR="70587" marT="47058" marB="47058" anchor="ctr"/>
                </a:tc>
                <a:extLst>
                  <a:ext uri="{0D108BD9-81ED-4DB2-BD59-A6C34878D82A}">
                    <a16:rowId xmlns:a16="http://schemas.microsoft.com/office/drawing/2014/main" val="988106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872251" y="1255869"/>
            <a:ext cx="6781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Name: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E-Commerce-Order-Management-System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A3AC747-3195-4E71-81E8-AACABC8D8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94456"/>
              </p:ext>
            </p:extLst>
          </p:nvPr>
        </p:nvGraphicFramePr>
        <p:xfrm>
          <a:off x="990600" y="2368388"/>
          <a:ext cx="7467600" cy="243221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3787913">
                  <a:extLst>
                    <a:ext uri="{9D8B030D-6E8A-4147-A177-3AD203B41FA5}">
                      <a16:colId xmlns:a16="http://schemas.microsoft.com/office/drawing/2014/main" val="43317984"/>
                    </a:ext>
                  </a:extLst>
                </a:gridCol>
                <a:gridCol w="3679687">
                  <a:extLst>
                    <a:ext uri="{9D8B030D-6E8A-4147-A177-3AD203B41FA5}">
                      <a16:colId xmlns:a16="http://schemas.microsoft.com/office/drawing/2014/main" val="1365298455"/>
                    </a:ext>
                  </a:extLst>
                </a:gridCol>
              </a:tblGrid>
              <a:tr h="48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245868"/>
                  </a:ext>
                </a:extLst>
              </a:tr>
              <a:tr h="48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.Deepika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Database Design &amp; Integration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3756323"/>
                  </a:ext>
                </a:extLst>
              </a:tr>
              <a:tr h="48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.Harshitha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SQL Development &amp; Operations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981909"/>
                  </a:ext>
                </a:extLst>
              </a:tr>
              <a:tr h="48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.Supriya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Documentation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4328110"/>
                  </a:ext>
                </a:extLst>
              </a:tr>
              <a:tr h="486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.Hemanth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Testing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9285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5725" y="5755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255271" y="1040290"/>
            <a:ext cx="9767649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contains tables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Used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uniquely identifies records.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connects related tables.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NULL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required values are entered.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prevents duplicate values such as email and transaction ID.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validates values such as price and quantity.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default values such as order status.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518052" y="1126153"/>
            <a:ext cx="6781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records inserted into the Customer table.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The image displays a table listing three customers' information, including their names, emails, and registration dates.&#10;&#10;AI-generated content may be incorrect.">
            <a:extLst>
              <a:ext uri="{FF2B5EF4-FFF2-40B4-BE49-F238E27FC236}">
                <a16:creationId xmlns:a16="http://schemas.microsoft.com/office/drawing/2014/main" id="{095368A8-C875-CA11-09F8-EE0DE65CA9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" y="4495800"/>
            <a:ext cx="8755773" cy="1864511"/>
          </a:xfrm>
          <a:prstGeom prst="rect">
            <a:avLst/>
          </a:prstGeom>
        </p:spPr>
      </p:pic>
      <p:pic>
        <p:nvPicPr>
          <p:cNvPr id="11" name="Picture 10" descr="The image displays a snippet of an SQL INSERT INTO statement, which is used to add new records to a table named Customer with columns for first name, last name, email, and registration date.&#10;&#10;AI-generated content may be incorrect.">
            <a:extLst>
              <a:ext uri="{FF2B5EF4-FFF2-40B4-BE49-F238E27FC236}">
                <a16:creationId xmlns:a16="http://schemas.microsoft.com/office/drawing/2014/main" id="{37500B6F-3BDE-0406-44B1-C893330C0B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52" y="1902968"/>
            <a:ext cx="7252852" cy="9245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BF625E-C5F4-72A6-7471-C661235DCC92}"/>
              </a:ext>
            </a:extLst>
          </p:cNvPr>
          <p:cNvSpPr txBox="1"/>
          <p:nvPr/>
        </p:nvSpPr>
        <p:spPr>
          <a:xfrm>
            <a:off x="533400" y="3091339"/>
            <a:ext cx="7086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 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960B8E9-EB3D-2068-93A5-A92AB8FBEE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337" y="3198960"/>
            <a:ext cx="2503241" cy="28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641680" y="951938"/>
            <a:ext cx="6781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Category [ DDL ]: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This is a snippet of a SQL table creation statement for a 'Category' table with an auto-incrementing primary key, a unique name field, and a foreign key reference to a parent category.&#10;&#10;AI-generated content may be incorrect.">
            <a:extLst>
              <a:ext uri="{FF2B5EF4-FFF2-40B4-BE49-F238E27FC236}">
                <a16:creationId xmlns:a16="http://schemas.microsoft.com/office/drawing/2014/main" id="{1CA3042B-2F9B-6A29-B970-7D34257E2A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80" y="1495579"/>
            <a:ext cx="6521120" cy="947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0A6C68-34BE-75FD-79A5-7D2C95AAB1C2}"/>
              </a:ext>
            </a:extLst>
          </p:cNvPr>
          <p:cNvSpPr txBox="1"/>
          <p:nvPr/>
        </p:nvSpPr>
        <p:spPr>
          <a:xfrm>
            <a:off x="613105" y="2443175"/>
            <a:ext cx="502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Category  [ DML ]: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4" name="Picture 13" descr="The provided text is an SQL statement, which is a way to insert data into a database table named 'Category'. The statement is creating a new table or adding to an existing one with columns for category_id, category_name, and parent_category_id. It includes five new records, categorizing 'Electronics' and 'Fashion' as top-level categories, and 'Mobiles', 'Laptops', and 'Clothing' as sub-categories under 'Electronics' and 'Fashion', respectively.&#10;&#10;AI-generated content may be incorrect.">
            <a:extLst>
              <a:ext uri="{FF2B5EF4-FFF2-40B4-BE49-F238E27FC236}">
                <a16:creationId xmlns:a16="http://schemas.microsoft.com/office/drawing/2014/main" id="{6EEC94F3-1DFA-7BB3-5AD2-631AAC9C62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80" y="2883749"/>
            <a:ext cx="6216320" cy="13739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7CF265-26CE-F1D2-B0C6-A9A32DBB460F}"/>
              </a:ext>
            </a:extLst>
          </p:cNvPr>
          <p:cNvSpPr txBox="1"/>
          <p:nvPr/>
        </p:nvSpPr>
        <p:spPr>
          <a:xfrm>
            <a:off x="613105" y="4343400"/>
            <a:ext cx="502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query for Category [ DQL ]: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The image displays a table with five categories: Electronics, Fashion, Mobiles, Laptops, and Clothing, each with corresponding IDs and parent IDs.&#10;&#10;AI-generated content may be incorrect.">
            <a:extLst>
              <a:ext uri="{FF2B5EF4-FFF2-40B4-BE49-F238E27FC236}">
                <a16:creationId xmlns:a16="http://schemas.microsoft.com/office/drawing/2014/main" id="{4639B544-AE61-26EA-CA61-EF9BB080B0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04" y="4820941"/>
            <a:ext cx="7086600" cy="241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577039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457200" y="921778"/>
            <a:ext cx="8534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were performed on the Customer table using INSERT, SELECT, UPDATE and DELETE commands.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20" name="Picture 19" descr="A table displaying customer data, including customer IDs, names, emails, and registration dates, with some queries resulting in no data.&#10;&#10;AI-generated content may be incorrect.">
            <a:extLst>
              <a:ext uri="{FF2B5EF4-FFF2-40B4-BE49-F238E27FC236}">
                <a16:creationId xmlns:a16="http://schemas.microsoft.com/office/drawing/2014/main" id="{43A9FF32-BAC6-820F-BF95-37B6865A69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351" y="3657600"/>
            <a:ext cx="6858000" cy="3710464"/>
          </a:xfrm>
          <a:prstGeom prst="rect">
            <a:avLst/>
          </a:prstGeom>
        </p:spPr>
      </p:pic>
      <p:pic>
        <p:nvPicPr>
          <p:cNvPr id="23" name="Picture 22" descr="The text is a series of SQL (Structured Query Language) commands for a database operation involving the creation, reading, and updating of a customer's record in a Customer table.&#10;&#10;AI-generated content may be incorrect.">
            <a:extLst>
              <a:ext uri="{FF2B5EF4-FFF2-40B4-BE49-F238E27FC236}">
                <a16:creationId xmlns:a16="http://schemas.microsoft.com/office/drawing/2014/main" id="{8B3C8B63-4575-3654-9B36-36221ECB2C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049" y="1612169"/>
            <a:ext cx="3833192" cy="1844200"/>
          </a:xfrm>
          <a:prstGeom prst="rect">
            <a:avLst/>
          </a:prstGeom>
        </p:spPr>
      </p:pic>
      <p:pic>
        <p:nvPicPr>
          <p:cNvPr id="25" name="Picture 24" descr="The image shows a series of SQL commands, specifically an UPDATE followed by a SELECT statement, and then a DELETE statement, all referencing a customer with the email 'rahul@mail.com'.&#10;&#10;AI-generated content may be incorrect.">
            <a:extLst>
              <a:ext uri="{FF2B5EF4-FFF2-40B4-BE49-F238E27FC236}">
                <a16:creationId xmlns:a16="http://schemas.microsoft.com/office/drawing/2014/main" id="{FB35D5E9-05B8-D59A-C77B-6B18893249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709" y="1720487"/>
            <a:ext cx="3810330" cy="1844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E7CFA9B-0F96-EA66-5297-528C247BCE8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351" y="7245659"/>
            <a:ext cx="5451449" cy="18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DA4FC-B36C-684E-F81F-B6F45A8A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E48D0BB-8D5D-CC5E-89C8-7250D54B09DD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915EBBCC-FABB-6CDC-4367-2F0FFA732C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08AD4E61-77EE-5070-5987-228EB32312FA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DF42521B-63FE-5818-2590-715BEA00B65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2E33C4D5-6071-520C-FF35-71470D2B408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8DB5013-A391-1F2D-D658-651C08EA8EF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EA61D65-1CCA-2DA4-AA15-A5DE5A2DB85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D89A194-560D-0F3F-475D-34253EA09643}"/>
              </a:ext>
            </a:extLst>
          </p:cNvPr>
          <p:cNvSpPr txBox="1"/>
          <p:nvPr/>
        </p:nvSpPr>
        <p:spPr>
          <a:xfrm>
            <a:off x="3577039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DCC8D-4400-C970-B74E-AA2183913F6A}"/>
              </a:ext>
            </a:extLst>
          </p:cNvPr>
          <p:cNvSpPr txBox="1"/>
          <p:nvPr/>
        </p:nvSpPr>
        <p:spPr>
          <a:xfrm>
            <a:off x="457200" y="921778"/>
            <a:ext cx="678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data from related tables using JOIN.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This image shows a SQL query selecting customer names and city from a joined Customer and Address table.&#10;&#10;AI-generated content may be incorrect.">
            <a:extLst>
              <a:ext uri="{FF2B5EF4-FFF2-40B4-BE49-F238E27FC236}">
                <a16:creationId xmlns:a16="http://schemas.microsoft.com/office/drawing/2014/main" id="{70798003-15F7-7531-EF34-062BE9F8BC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0" y="1604250"/>
            <a:ext cx="2995375" cy="1198311"/>
          </a:xfrm>
          <a:prstGeom prst="rect">
            <a:avLst/>
          </a:prstGeom>
        </p:spPr>
      </p:pic>
      <p:pic>
        <p:nvPicPr>
          <p:cNvPr id="12" name="Picture 11" descr="The image displays a list of names and cities, specifically Anita Patel and Ramesh Nair from Vijayawada, and Divya Singh from Hyderabad.&#10;&#10;AI-generated content may be incorrect.">
            <a:extLst>
              <a:ext uri="{FF2B5EF4-FFF2-40B4-BE49-F238E27FC236}">
                <a16:creationId xmlns:a16="http://schemas.microsoft.com/office/drawing/2014/main" id="{E82BF6D0-88C3-9953-72E3-CD703029C5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900" y="1294035"/>
            <a:ext cx="6934200" cy="20652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345B75-1AAC-114F-09EB-FA864DA78BE9}"/>
              </a:ext>
            </a:extLst>
          </p:cNvPr>
          <p:cNvSpPr txBox="1"/>
          <p:nvPr/>
        </p:nvSpPr>
        <p:spPr>
          <a:xfrm>
            <a:off x="457200" y="3507343"/>
            <a:ext cx="7477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values such as total order amount using SUM() and GROUP BY.</a:t>
            </a:r>
          </a:p>
        </p:txBody>
      </p:sp>
      <p:pic>
        <p:nvPicPr>
          <p:cNvPr id="18" name="Picture 17" descr="The provided text appears to be an excerpt from a SQL query, specifically a SELECT statement that calculates the total amount of each order by summing the product of the quantity and unit price for each order item.&#10;&#10;AI-generated content may be incorrect.">
            <a:extLst>
              <a:ext uri="{FF2B5EF4-FFF2-40B4-BE49-F238E27FC236}">
                <a16:creationId xmlns:a16="http://schemas.microsoft.com/office/drawing/2014/main" id="{C5D2E863-230D-4E25-582B-BCCB81CEC5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5" y="4328842"/>
            <a:ext cx="3966925" cy="1145003"/>
          </a:xfrm>
          <a:prstGeom prst="rect">
            <a:avLst/>
          </a:prstGeom>
        </p:spPr>
      </p:pic>
      <p:pic>
        <p:nvPicPr>
          <p:cNvPr id="22" name="Picture 21" descr="The image displays a table listing order IDs and their corresponding total amounts, with amounts ranging from 2497 to 68998.&#10;&#10;AI-generated content may be incorrect.">
            <a:extLst>
              <a:ext uri="{FF2B5EF4-FFF2-40B4-BE49-F238E27FC236}">
                <a16:creationId xmlns:a16="http://schemas.microsoft.com/office/drawing/2014/main" id="{DB13880B-9DC3-40E4-6AFB-CB322FE84F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0" y="5402956"/>
            <a:ext cx="6485023" cy="180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93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2985937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F6FB15-7CA9-3FED-CCD0-306D7C468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856698"/>
              </p:ext>
            </p:extLst>
          </p:nvPr>
        </p:nvGraphicFramePr>
        <p:xfrm>
          <a:off x="1027404" y="1255869"/>
          <a:ext cx="8003592" cy="5893911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667864">
                  <a:extLst>
                    <a:ext uri="{9D8B030D-6E8A-4147-A177-3AD203B41FA5}">
                      <a16:colId xmlns:a16="http://schemas.microsoft.com/office/drawing/2014/main" val="3826846950"/>
                    </a:ext>
                  </a:extLst>
                </a:gridCol>
                <a:gridCol w="2667864">
                  <a:extLst>
                    <a:ext uri="{9D8B030D-6E8A-4147-A177-3AD203B41FA5}">
                      <a16:colId xmlns:a16="http://schemas.microsoft.com/office/drawing/2014/main" val="1289340502"/>
                    </a:ext>
                  </a:extLst>
                </a:gridCol>
                <a:gridCol w="2667864">
                  <a:extLst>
                    <a:ext uri="{9D8B030D-6E8A-4147-A177-3AD203B41FA5}">
                      <a16:colId xmlns:a16="http://schemas.microsoft.com/office/drawing/2014/main" val="3781567745"/>
                    </a:ext>
                  </a:extLst>
                </a:gridCol>
              </a:tblGrid>
              <a:tr h="481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Constraint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Applied On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Purpose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174313"/>
                  </a:ext>
                </a:extLst>
              </a:tr>
              <a:tr h="841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PRIMARY KEY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All tables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Uniquely identifies each record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96919"/>
                  </a:ext>
                </a:extLst>
              </a:tr>
              <a:tr h="841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FOREIGN KEY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Address, Category, Product, Orders, Order_Item, Payment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Maintains relationships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147739"/>
                  </a:ext>
                </a:extLst>
              </a:tr>
              <a:tr h="841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NOT NULL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Customer, Product, Orders, Order_Item, etc.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Prevents missing required values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050561"/>
                  </a:ext>
                </a:extLst>
              </a:tr>
              <a:tr h="1202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UNIQUE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Customer.email, Category.category_name, Payment.transaction_id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Prevents duplicate values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400692"/>
                  </a:ext>
                </a:extLst>
              </a:tr>
              <a:tr h="841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CHECK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Product.price, Order_Item.quantity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Ensures valid values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224434"/>
                  </a:ext>
                </a:extLst>
              </a:tr>
              <a:tr h="841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DEFAULT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Order date, order status, etc.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Provides automatic default values</a:t>
                      </a:r>
                    </a:p>
                  </a:txBody>
                  <a:tcPr marL="67226" marR="67226" marT="33613" marB="33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1015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pic>
        <p:nvPicPr>
          <p:cNvPr id="10" name="Picture 9" descr="The image shows a snippet of SQL code, specifically a `CREATE TABLE` statement, which outlines the structure for a table named `Order_Item` with columns for `order_id`, `product_name`, `quantity`, `unit_price`, and `subtotal`.&#10;&#10;AI-generated content may be incorrect.">
            <a:extLst>
              <a:ext uri="{FF2B5EF4-FFF2-40B4-BE49-F238E27FC236}">
                <a16:creationId xmlns:a16="http://schemas.microsoft.com/office/drawing/2014/main" id="{82FBED6A-7214-5F98-9C26-339757C650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16579"/>
            <a:ext cx="9601200" cy="5490478"/>
          </a:xfrm>
          <a:prstGeom prst="rect">
            <a:avLst/>
          </a:prstGeom>
        </p:spPr>
      </p:pic>
      <p:pic>
        <p:nvPicPr>
          <p:cNvPr id="12" name="Picture 11" descr="The image shows a product listing for wireless earbuds with a price of $199.00.&#10;&#10;AI-generated content may be incorrect.">
            <a:extLst>
              <a:ext uri="{FF2B5EF4-FFF2-40B4-BE49-F238E27FC236}">
                <a16:creationId xmlns:a16="http://schemas.microsoft.com/office/drawing/2014/main" id="{C2429A64-9A95-F122-454F-AD3773E647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707057"/>
            <a:ext cx="9411448" cy="50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741759" y="1114179"/>
            <a:ext cx="8574881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Order Management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structured database</a:t>
            </a:r>
          </a:p>
          <a:p>
            <a:pPr lvl="0"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managing online shopping data. </a:t>
            </a:r>
          </a:p>
          <a:p>
            <a:pPr lvl="0"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organizes customers, addresses, categories, products, orders, order</a:t>
            </a:r>
          </a:p>
          <a:p>
            <a:pPr lvl="0"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items, and payments. </a:t>
            </a:r>
          </a:p>
          <a:p>
            <a:pPr lvl="0"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and foreign keys establish relationships between the tables. </a:t>
            </a:r>
          </a:p>
          <a:p>
            <a:pPr lvl="0"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help maintain data integrity and consistency. </a:t>
            </a:r>
          </a:p>
          <a:p>
            <a:pPr lvl="0"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operations allow efficient insertion, modification, deletion, and retrieval of</a:t>
            </a:r>
          </a:p>
          <a:p>
            <a:pPr lvl="0"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 </a:t>
            </a:r>
          </a:p>
          <a:p>
            <a:pPr lvl="0"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practical application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concepts in an e</a:t>
            </a:r>
          </a:p>
          <a:p>
            <a:pPr lvl="0"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-commerce environment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2860</TotalTime>
  <Words>920</Words>
  <Application>Microsoft Office PowerPoint</Application>
  <PresentationFormat>Custom</PresentationFormat>
  <Paragraphs>204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</vt:lpstr>
      <vt:lpstr>Google Sans Text</vt:lpstr>
      <vt:lpstr>Palatino Linotype</vt:lpstr>
      <vt:lpstr>Times New Roman</vt:lpstr>
      <vt:lpstr>Office Theme</vt:lpstr>
      <vt:lpstr>Database Management Systems Cornerstone Project Final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Unukuru Deepika</cp:lastModifiedBy>
  <cp:revision>56</cp:revision>
  <cp:lastPrinted>2025-10-14T18:21:49Z</cp:lastPrinted>
  <dcterms:created xsi:type="dcterms:W3CDTF">2025-10-10T08:28:06Z</dcterms:created>
  <dcterms:modified xsi:type="dcterms:W3CDTF">2026-10-03T09:13:40Z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